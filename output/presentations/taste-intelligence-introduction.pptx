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5cdc1d5eb48a2" /><Relationship Type="http://schemas.openxmlformats.org/officeDocument/2006/relationships/extended-properties" Target="/docProps/app.xml" Id="Rf3eb587c1cfe405c" /><Relationship Type="http://schemas.openxmlformats.org/officeDocument/2006/relationships/officeDocument" Target="/ppt/presentation.xml" Id="R2032ad131b84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a0c46b65e49ec"/>
  </p:sldMasterIdLst>
  <p:notesMasterIdLst>
    <p:notesMasterId xmlns:r="http://schemas.openxmlformats.org/officeDocument/2006/relationships" r:id="R8441373db2da421d"/>
  </p:notesMasterIdLst>
  <p:sldIdLst>
    <p:sldId xmlns:r="http://schemas.openxmlformats.org/officeDocument/2006/relationships" id="256" r:id="R8b89d476bdb94e3b"/>
    <p:sldId xmlns:r="http://schemas.openxmlformats.org/officeDocument/2006/relationships" id="257" r:id="R051886ca91944a61"/>
    <p:sldId xmlns:r="http://schemas.openxmlformats.org/officeDocument/2006/relationships" id="258" r:id="Re75ab9f4d3a44676"/>
    <p:sldId xmlns:r="http://schemas.openxmlformats.org/officeDocument/2006/relationships" id="259" r:id="Rd1f63364cdc54b39"/>
    <p:sldId xmlns:r="http://schemas.openxmlformats.org/officeDocument/2006/relationships" id="260" r:id="R4f13089cf4134a9c"/>
    <p:sldId xmlns:r="http://schemas.openxmlformats.org/officeDocument/2006/relationships" id="261" r:id="R8e9e948c57084a99"/>
    <p:sldId xmlns:r="http://schemas.openxmlformats.org/officeDocument/2006/relationships" id="262" r:id="R7b550f6e7db144c2"/>
    <p:sldId xmlns:r="http://schemas.openxmlformats.org/officeDocument/2006/relationships" id="263" r:id="R08494c91522a44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f1a63d20a4196" /><Relationship Type="http://schemas.openxmlformats.org/officeDocument/2006/relationships/slideMaster" Target="/ppt/slideMasters/slideMaster1.xml" Id="R81ca0c46b65e49ec" /><Relationship Type="http://schemas.openxmlformats.org/officeDocument/2006/relationships/notesMaster" Target="/ppt/notesMasters/notesMaster1.xml" Id="R8441373db2da421d" /><Relationship Type="http://schemas.openxmlformats.org/officeDocument/2006/relationships/presProps" Target="/ppt/presProps.xml" Id="R2d8555d1f83e4219" /><Relationship Type="http://schemas.openxmlformats.org/officeDocument/2006/relationships/tableStyles" Target="/ppt/tableStyles.xml" Id="R009e2e4659724b10" /><Relationship Type="http://schemas.openxmlformats.org/officeDocument/2006/relationships/slide" Target="/ppt/slides/slide1.xml" Id="R8b89d476bdb94e3b" /><Relationship Type="http://schemas.openxmlformats.org/officeDocument/2006/relationships/slide" Target="/ppt/slides/slide2.xml" Id="R051886ca91944a61" /><Relationship Type="http://schemas.openxmlformats.org/officeDocument/2006/relationships/slide" Target="/ppt/slides/slide3.xml" Id="Re75ab9f4d3a44676" /><Relationship Type="http://schemas.openxmlformats.org/officeDocument/2006/relationships/slide" Target="/ppt/slides/slide4.xml" Id="Rd1f63364cdc54b39" /><Relationship Type="http://schemas.openxmlformats.org/officeDocument/2006/relationships/slide" Target="/ppt/slides/slide5.xml" Id="R4f13089cf4134a9c" /><Relationship Type="http://schemas.openxmlformats.org/officeDocument/2006/relationships/slide" Target="/ppt/slides/slide6.xml" Id="R8e9e948c57084a99" /><Relationship Type="http://schemas.openxmlformats.org/officeDocument/2006/relationships/slide" Target="/ppt/slides/slide7.xml" Id="R7b550f6e7db144c2" /><Relationship Type="http://schemas.openxmlformats.org/officeDocument/2006/relationships/slide" Target="/ppt/slides/slide8.xml" Id="R08494c91522a44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7ad797952d47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6e63b0411a429a" /><Relationship Type="http://schemas.openxmlformats.org/officeDocument/2006/relationships/notesMaster" Target="/ppt/notesMasters/notesMaster1.xml" Id="Rcb701ca5d68343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f7c59af5c49bc" /><Relationship Type="http://schemas.openxmlformats.org/officeDocument/2006/relationships/notesMaster" Target="/ppt/notesMasters/notesMaster1.xml" Id="R73c7ef298290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599ed21e04f58" /><Relationship Type="http://schemas.openxmlformats.org/officeDocument/2006/relationships/notesMaster" Target="/ppt/notesMasters/notesMaster1.xml" Id="R8e0c55dbc2384e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38332008fb41ac" /><Relationship Type="http://schemas.openxmlformats.org/officeDocument/2006/relationships/notesMaster" Target="/ppt/notesMasters/notesMaster1.xml" Id="Rded1aa09d3d6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66e7c4612244cf" /><Relationship Type="http://schemas.openxmlformats.org/officeDocument/2006/relationships/notesMaster" Target="/ppt/notesMasters/notesMaster1.xml" Id="Rc284a923248e4a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82fb688eb14b01" /><Relationship Type="http://schemas.openxmlformats.org/officeDocument/2006/relationships/notesMaster" Target="/ppt/notesMasters/notesMaster1.xml" Id="R7fca3ac05c5e49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50572f56894f10" /><Relationship Type="http://schemas.openxmlformats.org/officeDocument/2006/relationships/notesMaster" Target="/ppt/notesMasters/notesMaster1.xml" Id="R4c612a17e26644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ba678ba35343c2" /><Relationship Type="http://schemas.openxmlformats.org/officeDocument/2006/relationships/notesMaster" Target="/ppt/notesMasters/notesMaster1.xml" Id="R7c9aba292bf4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problem, not the software. Taste Intelligence is the working public name; the hub is backed by New Food Innovation.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positioning: PRODUCT.md and the implemented Sensory Platform workflow.</a:t>
            </a:r>
          </a:p>
          <a:p xmlns:a="http://schemas.openxmlformats.org/drawingml/2006/main">
            <a:r>
              <a:t>- Hero image: AI-generated for this deck on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examples the audience recognizes: spreadsheets, survey exports, lab reports and separate concept decks. Do not imply that every company has the same systems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workflow analysis based on PRODUCT.md and DESIGN.md; no external market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the workflow is connected but still human-reviewed: the platform organizes evidence and preserves decisions; it does not replace scientific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workflow: PRODUCT.md and DESIGN.md.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capability slide. Keep it outcome-led: the benefit is evidence continuity, not simply having four software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capability summary derived from implemented Sensory Platform features.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Alessandro, connect this slide to ingredient performance in the finished bakery system: compare versions, understand the sensory effect and create evidence that supports customer conversations.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Questions reflect the implemented decision and study workflow; no outcome claim.</a:t>
            </a:r>
          </a:p>
          <a:p xmlns:a="http://schemas.openxmlformats.org/drawingml/2006/main">
            <a:r>
              <a:t>- Supporting image: AI-generated for this deck on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Mike, focus on how a structured evidence journey improves market-innovation discussions across his network. The hub can support advisory work without presenting the technology as the adviser.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Audience framing supplied by the user; product value derived from internal capabilities.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prospect to bring one current project rather than asking them to adopt an entire platform at once. Scope, timing and commercial terms should be agreed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structure is a proposed engagement model, not a performance promise.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specific next step: choose one product-development question for a private working session. The public address is tasteintelligence.co.uk; tasteintelligences.com can redirect to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Domain ownership and hosting context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1b9da0221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460e8610fb42f0" /><Relationship Type="http://schemas.openxmlformats.org/officeDocument/2006/relationships/slideLayout" Target="/ppt/slideLayouts/slideLayout1.xml" Id="Rbc149f8c8edc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49f8c8edc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d0382a09e48cb" /><Relationship Type="http://schemas.openxmlformats.org/officeDocument/2006/relationships/image" Target="/ppt/media/image.png" Id="R0dc437ae594c4f7e" /><Relationship Type="http://schemas.openxmlformats.org/officeDocument/2006/relationships/hyperlink" Target="https://tasteintelligence.co.uk" TargetMode="External" Id="R1cb3d9a9e66b47c6" /><Relationship Type="http://schemas.openxmlformats.org/officeDocument/2006/relationships/notesSlide" Target="/ppt/notesSlides/notesSlide1.xml" Id="R2345844e278b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2102f0bc74712" /><Relationship Type="http://schemas.openxmlformats.org/officeDocument/2006/relationships/notesSlide" Target="/ppt/notesSlides/notesSlide2.xml" Id="R577b7d4d2bae4c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77e80c28b46e8" /><Relationship Type="http://schemas.openxmlformats.org/officeDocument/2006/relationships/notesSlide" Target="/ppt/notesSlides/notesSlide3.xml" Id="Rde55909b8874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b14dca47b4a4a" /><Relationship Type="http://schemas.openxmlformats.org/officeDocument/2006/relationships/notesSlide" Target="/ppt/notesSlides/notesSlide4.xml" Id="Rf3f43cc1c8e242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1b55ba9fd49aa" /><Relationship Type="http://schemas.openxmlformats.org/officeDocument/2006/relationships/image" Target="/ppt/media/image2.png" Id="R5fd8262de7fa4445" /><Relationship Type="http://schemas.openxmlformats.org/officeDocument/2006/relationships/notesSlide" Target="/ppt/notesSlides/notesSlide5.xml" Id="Raf26eba7a996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f3d713684a90" /><Relationship Type="http://schemas.openxmlformats.org/officeDocument/2006/relationships/notesSlide" Target="/ppt/notesSlides/notesSlide6.xml" Id="R8742364fc30b4c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11b1c8ea74d0e" /><Relationship Type="http://schemas.openxmlformats.org/officeDocument/2006/relationships/notesSlide" Target="/ppt/notesSlides/notesSlide7.xml" Id="Re22493d7a07c42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f082e6da43c4" /><Relationship Type="http://schemas.openxmlformats.org/officeDocument/2006/relationships/hyperlink" Target="https://tasteintelligence.co.uk" TargetMode="External" Id="Ra69171fe75594f9e" /><Relationship Type="http://schemas.openxmlformats.org/officeDocument/2006/relationships/notesSlide" Target="/ppt/notesSlides/notesSlide8.xml" Id="Rea55e7a71b77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437ae594c4f7e"/>
          <a:srcRect xmlns:a="http://schemas.openxmlformats.org/drawingml/2006/main" l="1689" t="0" r="1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381000"/>
            <a:ext cx="5448300" cy="5638800"/>
          </a:xfrm>
          <a:prstGeom xmlns:a="http://schemas.openxmlformats.org/drawingml/2006/main" prst="roundRect">
            <a:avLst>
              <a:gd name="adj" fmla="val 1399"/>
            </a:avLst>
          </a:prstGeom>
        </p:spPr>
      </p:pic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C02345A8-FDAA-4FC8-893A-FAA0AA3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26C5F"/>
                </a:solidFill>
                <a:latin typeface="Arial"/>
                <a:ea typeface="Arial"/>
                <a:cs typeface="Arial"/>
              </a:rPr>
              <a:t>Taste Intelligence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30FBBA8-A301-4B5A-983A-0B233C0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490"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Clearer evidence.</a:t>
            </a:r>
          </a:p>
          <a:p xmlns:a="http://schemas.openxmlformats.org/drawingml/2006/main">
            <a:pPr algn="l">
              <a:defRPr sz="51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Stronger food decisions.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B3F7531-B0AE-459D-BECA-63B38B26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Connect technical, sensory and consumer evidence across one product-development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279ED-C4C0-44AC-A285-8199B8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nfi">
            <a:extLst xmlns:a="http://schemas.openxmlformats.org/drawingml/2006/main">
              <a:ext uri="{FF2B5EF4-FFF2-40B4-BE49-F238E27FC236}">
                <a16:creationId xmlns:a16="http://schemas.microsoft.com/office/drawing/2014/main" id="{0E31DB6E-6661-4AC0-977C-54EC1976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A3530"/>
                </a:solidFill>
                <a:latin typeface="Arial"/>
                <a:ea typeface="Arial"/>
                <a:cs typeface="Arial"/>
              </a:rPr>
              <a:t>An NFI sensory and consumer science hub</a:t>
            </a:r>
          </a:p>
        </p:txBody>
      </p:sp>
      <p:sp>
        <p:nvSpPr>
          <p:cNvPr id="7" name="cover-url">
            <a:extLst xmlns:a="http://schemas.openxmlformats.org/drawingml/2006/main">
              <a:ext uri="{FF2B5EF4-FFF2-40B4-BE49-F238E27FC236}">
                <a16:creationId xmlns:a16="http://schemas.microsoft.com/office/drawing/2014/main" id="{42F9F3B2-F8CD-4B3D-9FC2-18354B7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C5F"/>
                </a:solidFill>
                <a:latin typeface="Arial"/>
                <a:ea typeface="Arial"/>
                <a:cs typeface="Arial"/>
                <a:hlinkClick xmlns:r="http://schemas.openxmlformats.org/officeDocument/2006/relationships" r:id="R1cb3d9a9e66b47c6"/>
              </a:rPr>
              <a:t>tasteintelligence.co.uk</a:t>
            </a:r>
          </a:p>
        </p:txBody>
      </p:sp>
    </p:spTree>
    <p:extLst>
      <p:ext uri="{BB962C8B-B14F-4D97-AF65-F5344CB8AC3E}">
        <p14:creationId xmlns:p14="http://schemas.microsoft.com/office/powerpoint/2010/main" val="1113853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37E64AA0-77E3-4436-B4DB-A256E5BE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3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Product-development evidence is often fragmented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95A2F-9FE9-4710-AAA5-0F2AD5F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ragmentation-thesis">
            <a:extLst xmlns:a="http://schemas.openxmlformats.org/drawingml/2006/main">
              <a:ext uri="{FF2B5EF4-FFF2-40B4-BE49-F238E27FC236}">
                <a16:creationId xmlns:a16="http://schemas.microsoft.com/office/drawing/2014/main" id="{D71FA0B1-AC5E-4C05-98CE-9FB3D4F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Instrumental data, sensory results, consumer feedback and concept work are often reviewed in separate places.</a:t>
            </a:r>
          </a:p>
        </p:txBody>
      </p:sp>
      <p:sp>
        <p:nvSpPr>
          <p:cNvPr id="4" name="fragmentation-detail">
            <a:extLst xmlns:a="http://schemas.openxmlformats.org/drawingml/2006/main">
              <a:ext uri="{FF2B5EF4-FFF2-40B4-BE49-F238E27FC236}">
                <a16:creationId xmlns:a16="http://schemas.microsoft.com/office/drawing/2014/main" id="{8B5FCE86-6AC3-413D-9EE2-7AD35EA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That makes it harder to see why a product advanced, what changed between versions, and which question should be answered next.</a:t>
            </a:r>
          </a:p>
        </p:txBody>
      </p:sp>
      <p:sp>
        <p:nvSpPr>
          <p:cNvPr id="5" name="fragment-0-title">
            <a:extLst xmlns:a="http://schemas.openxmlformats.org/drawingml/2006/main">
              <a:ext uri="{FF2B5EF4-FFF2-40B4-BE49-F238E27FC236}">
                <a16:creationId xmlns:a16="http://schemas.microsoft.com/office/drawing/2014/main" id="{7387415E-6226-4575-8816-56E575A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14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Technical data</a:t>
            </a:r>
          </a:p>
        </p:txBody>
      </p:sp>
      <p:sp>
        <p:nvSpPr>
          <p:cNvPr id="6" name="fragment-0-detail">
            <a:extLst xmlns:a="http://schemas.openxmlformats.org/drawingml/2006/main">
              <a:ext uri="{FF2B5EF4-FFF2-40B4-BE49-F238E27FC236}">
                <a16:creationId xmlns:a16="http://schemas.microsoft.com/office/drawing/2014/main" id="{3F8435BA-7F37-43F3-8451-7CA19DFF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288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Instrument, composition and formulation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F916D-B22E-4793-8D62-2D036921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479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ragment-1-title">
            <a:extLst xmlns:a="http://schemas.openxmlformats.org/drawingml/2006/main">
              <a:ext uri="{FF2B5EF4-FFF2-40B4-BE49-F238E27FC236}">
                <a16:creationId xmlns:a16="http://schemas.microsoft.com/office/drawing/2014/main" id="{FD0DFB14-8D6A-4B11-97BD-643C1C7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Sensory studies</a:t>
            </a:r>
          </a:p>
        </p:txBody>
      </p:sp>
      <p:sp>
        <p:nvSpPr>
          <p:cNvPr id="9" name="fragment-1-detail">
            <a:extLst xmlns:a="http://schemas.openxmlformats.org/drawingml/2006/main">
              <a:ext uri="{FF2B5EF4-FFF2-40B4-BE49-F238E27FC236}">
                <a16:creationId xmlns:a16="http://schemas.microsoft.com/office/drawing/2014/main" id="{C95556C4-2AEE-4ADC-8ED4-51D4AB4A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05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Attributes, liking, intensity and comments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76F86-9CE4-4A06-AFA1-0B43B64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ragment-2-title">
            <a:extLst xmlns:a="http://schemas.openxmlformats.org/drawingml/2006/main">
              <a:ext uri="{FF2B5EF4-FFF2-40B4-BE49-F238E27FC236}">
                <a16:creationId xmlns:a16="http://schemas.microsoft.com/office/drawing/2014/main" id="{E4178B45-693A-4E59-B8F7-8343E11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Consumer learning</a:t>
            </a:r>
          </a:p>
        </p:txBody>
      </p:sp>
      <p:sp>
        <p:nvSpPr>
          <p:cNvPr id="12" name="fragment-2-detail">
            <a:extLst xmlns:a="http://schemas.openxmlformats.org/drawingml/2006/main">
              <a:ext uri="{FF2B5EF4-FFF2-40B4-BE49-F238E27FC236}">
                <a16:creationId xmlns:a16="http://schemas.microsoft.com/office/drawing/2014/main" id="{6485CB91-BA4A-400D-9E97-7E738A2C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81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Concept, usage, price and purchase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B6B95-9DA1-4C14-9A6E-989D339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005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ragment-3-title">
            <a:extLst xmlns:a="http://schemas.openxmlformats.org/drawingml/2006/main">
              <a:ext uri="{FF2B5EF4-FFF2-40B4-BE49-F238E27FC236}">
                <a16:creationId xmlns:a16="http://schemas.microsoft.com/office/drawing/2014/main" id="{F14E870D-3D13-4205-A0C1-3CE71C39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Commercial decisions</a:t>
            </a:r>
          </a:p>
        </p:txBody>
      </p:sp>
      <p:sp>
        <p:nvSpPr>
          <p:cNvPr id="15" name="fragment-3-detail">
            <a:extLst xmlns:a="http://schemas.openxmlformats.org/drawingml/2006/main">
              <a:ext uri="{FF2B5EF4-FFF2-40B4-BE49-F238E27FC236}">
                <a16:creationId xmlns:a16="http://schemas.microsoft.com/office/drawing/2014/main" id="{A34EF488-0B8E-4ABA-9951-4BBC8CB7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577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GO, TWEAK or STOP — and the rationale</a:t>
            </a:r>
          </a:p>
        </p:txBody>
      </p:sp>
      <p:sp>
        <p:nvSpPr>
          <p:cNvPr id="16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78F6488F-7887-4D11-BD21-F407C97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934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blem-callout-text">
            <a:extLst xmlns:a="http://schemas.openxmlformats.org/drawingml/2006/main">
              <a:ext uri="{FF2B5EF4-FFF2-40B4-BE49-F238E27FC236}">
                <a16:creationId xmlns:a16="http://schemas.microsoft.com/office/drawing/2014/main" id="{E976E928-F8D1-4978-941B-7A091B59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C5F"/>
                </a:solidFill>
                <a:latin typeface="Arial"/>
                <a:ea typeface="Arial"/>
                <a:cs typeface="Arial"/>
              </a:rPr>
              <a:t>When the evidence is disconnected, the decision becomes harder to explain, repeat and defend.</a:t>
            </a:r>
          </a:p>
        </p:txBody>
      </p:sp>
      <p:sp>
        <p:nvSpPr>
          <p:cNvPr id="1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4B48490A-79FB-48E0-8A76-5BA088F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B9C2459-AE48-42C3-AA60-BDBAF8A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1860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6F57091A-FD22-4901-A6DB-A65DDF70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One journey keeps every decision in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C02CB-1653-4F20-946C-34B9F4CA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03ED8-70B8-4D06-B300-82C182F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70A4229-D181-4946-8995-D05F301E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7311BAC4-223B-42BB-9FFD-9FB57609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journey-detail-0">
            <a:extLst xmlns:a="http://schemas.openxmlformats.org/drawingml/2006/main">
              <a:ext uri="{FF2B5EF4-FFF2-40B4-BE49-F238E27FC236}">
                <a16:creationId xmlns:a16="http://schemas.microsoft.com/office/drawing/2014/main" id="{49389F88-45F1-445A-9C3B-5CC785C4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Bring in sample and technical evidence.</a:t>
            </a:r>
          </a:p>
        </p:txBody>
      </p:sp>
      <p:sp>
        <p:nvSpPr>
          <p:cNvPr id="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85C0DCD9-EA0E-4D4A-BAFD-1C556688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2085D9E1-4311-4EB6-9E11-BB41904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journey-detail-1">
            <a:extLst xmlns:a="http://schemas.openxmlformats.org/drawingml/2006/main">
              <a:ext uri="{FF2B5EF4-FFF2-40B4-BE49-F238E27FC236}">
                <a16:creationId xmlns:a16="http://schemas.microsoft.com/office/drawing/2014/main" id="{536D7E1E-3B1F-4E94-B940-9DDC7837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623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Choose the questions and safe panel.</a:t>
            </a:r>
          </a:p>
        </p:txBody>
      </p:sp>
      <p:sp>
        <p:nvSpPr>
          <p:cNvPr id="10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918810A5-5687-45E9-B0B5-46B0FDF8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7E95737-219F-4E33-BB80-EB7502ED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sp>
        <p:nvSpPr>
          <p:cNvPr id="12" name="journey-detail-2">
            <a:extLst xmlns:a="http://schemas.openxmlformats.org/drawingml/2006/main">
              <a:ext uri="{FF2B5EF4-FFF2-40B4-BE49-F238E27FC236}">
                <a16:creationId xmlns:a16="http://schemas.microsoft.com/office/drawing/2014/main" id="{0FFA6F45-2DA7-497F-B824-83F64B71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See what the responses support.</a:t>
            </a:r>
          </a:p>
        </p:txBody>
      </p:sp>
      <p:sp>
        <p:nvSpPr>
          <p:cNvPr id="13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40C6930C-6A74-42B0-B3D4-A6F307FB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CDCE5C49-F00B-459B-B023-C2B1AAF2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C5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5" name="journey-detail-3">
            <a:extLst xmlns:a="http://schemas.openxmlformats.org/drawingml/2006/main">
              <a:ext uri="{FF2B5EF4-FFF2-40B4-BE49-F238E27FC236}">
                <a16:creationId xmlns:a16="http://schemas.microsoft.com/office/drawing/2014/main" id="{0F87611B-565F-4C4B-8630-380DBE8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5623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Record GO, TWEAK or STOP.</a:t>
            </a:r>
          </a:p>
        </p:txBody>
      </p:sp>
      <p:sp>
        <p:nvSpPr>
          <p:cNvPr id="16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202B52C9-31BD-4BD6-9864-A8FAA3C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64DC8312-0CBE-4F31-A860-C1634009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18" name="journey-detail-4">
            <a:extLst xmlns:a="http://schemas.openxmlformats.org/drawingml/2006/main">
              <a:ext uri="{FF2B5EF4-FFF2-40B4-BE49-F238E27FC236}">
                <a16:creationId xmlns:a16="http://schemas.microsoft.com/office/drawing/2014/main" id="{84C9FC63-CB60-4B1D-8C54-F684BDC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Translate validated direction.</a:t>
            </a:r>
          </a:p>
        </p:txBody>
      </p:sp>
      <p:sp>
        <p:nvSpPr>
          <p:cNvPr id="19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EBED35F8-6D7E-4D95-96E8-0264D58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412348A4-1449-481E-A3BA-1DD12189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journey-detail-5">
            <a:extLst xmlns:a="http://schemas.openxmlformats.org/drawingml/2006/main">
              <a:ext uri="{FF2B5EF4-FFF2-40B4-BE49-F238E27FC236}">
                <a16:creationId xmlns:a16="http://schemas.microsoft.com/office/drawing/2014/main" id="{72F5933D-A3A8-49DC-8804-C1B19B3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623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Create a traceable client output.</a:t>
            </a:r>
          </a:p>
        </p:txBody>
      </p:sp>
      <p:sp>
        <p:nvSpPr>
          <p:cNvPr id="22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C54DB671-E8A4-46E7-85B1-0E2C19B7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Each stage inherits the evidence that came before it.</a:t>
            </a:r>
          </a:p>
        </p:txBody>
      </p:sp>
      <p:sp>
        <p:nvSpPr>
          <p:cNvPr id="23" name="journey-outcome-detail">
            <a:extLst xmlns:a="http://schemas.openxmlformats.org/drawingml/2006/main">
              <a:ext uri="{FF2B5EF4-FFF2-40B4-BE49-F238E27FC236}">
                <a16:creationId xmlns:a16="http://schemas.microsoft.com/office/drawing/2014/main" id="{041695B8-1579-459F-B8AD-3E17BC66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245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The result is a clearer line from sample to commercial recommendation.</a:t>
            </a:r>
          </a:p>
        </p:txBody>
      </p:sp>
      <p:sp>
        <p:nvSpPr>
          <p:cNvPr id="2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0063C8DA-35B6-408E-ACD0-D8339DC9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2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0B1B218-511E-427A-85D5-1EAAB2D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8089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C47D7295-619D-4A18-B6A4-7F0AE662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Evidence stays attached to every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B6353-3861-47DB-A7D7-E113B44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EA69-AFC0-4C9C-9FEA-693F87C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2D8DF-FE03-4701-A126-75663C00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ement-1-title">
            <a:extLst xmlns:a="http://schemas.openxmlformats.org/drawingml/2006/main">
              <a:ext uri="{FF2B5EF4-FFF2-40B4-BE49-F238E27FC236}">
                <a16:creationId xmlns:a16="http://schemas.microsoft.com/office/drawing/2014/main" id="{5C909DF1-9C49-4C59-AE71-CFE51258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Technical evidence</a:t>
            </a:r>
          </a:p>
        </p:txBody>
      </p:sp>
      <p:sp>
        <p:nvSpPr>
          <p:cNvPr id="6" name="statement-1-body">
            <a:extLst xmlns:a="http://schemas.openxmlformats.org/drawingml/2006/main">
              <a:ext uri="{FF2B5EF4-FFF2-40B4-BE49-F238E27FC236}">
                <a16:creationId xmlns:a16="http://schemas.microsoft.com/office/drawing/2014/main" id="{3A8071A3-7627-414B-9804-AD181AC5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Import instrumental, composition and formulation information against the correct sample and project.</a:t>
            </a:r>
          </a:p>
        </p:txBody>
      </p:sp>
      <p:sp>
        <p:nvSpPr>
          <p:cNvPr id="7" name="statement-2-title">
            <a:extLst xmlns:a="http://schemas.openxmlformats.org/drawingml/2006/main">
              <a:ext uri="{FF2B5EF4-FFF2-40B4-BE49-F238E27FC236}">
                <a16:creationId xmlns:a16="http://schemas.microsoft.com/office/drawing/2014/main" id="{397C13CA-344C-443E-8BCA-CEB5EC8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Sensory and consumer studies</a:t>
            </a:r>
          </a:p>
        </p:txBody>
      </p:sp>
      <p:sp>
        <p:nvSpPr>
          <p:cNvPr id="8" name="statement-2-body">
            <a:extLst xmlns:a="http://schemas.openxmlformats.org/drawingml/2006/main">
              <a:ext uri="{FF2B5EF4-FFF2-40B4-BE49-F238E27FC236}">
                <a16:creationId xmlns:a16="http://schemas.microsoft.com/office/drawing/2014/main" id="{517F50B5-7C33-4B50-92DC-C1250711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Configure the right questions, select safe eligible panelists, and monitor responses without losing sample identity.</a:t>
            </a:r>
          </a:p>
        </p:txBody>
      </p:sp>
      <p:sp>
        <p:nvSpPr>
          <p:cNvPr id="9" name="statement-3-title">
            <a:extLst xmlns:a="http://schemas.openxmlformats.org/drawingml/2006/main">
              <a:ext uri="{FF2B5EF4-FFF2-40B4-BE49-F238E27FC236}">
                <a16:creationId xmlns:a16="http://schemas.microsoft.com/office/drawing/2014/main" id="{1886E14D-36F6-4212-B45D-D31EE25C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Decision discipline</a:t>
            </a:r>
          </a:p>
        </p:txBody>
      </p:sp>
      <p:sp>
        <p:nvSpPr>
          <p:cNvPr id="10" name="statement-3-body">
            <a:extLst xmlns:a="http://schemas.openxmlformats.org/drawingml/2006/main">
              <a:ext uri="{FF2B5EF4-FFF2-40B4-BE49-F238E27FC236}">
                <a16:creationId xmlns:a16="http://schemas.microsoft.com/office/drawing/2014/main" id="{3C3BBF49-F381-40B3-B1F5-F5A32BBB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Make the GO, TWEAK or STOP rationale explicit, with method, confidence and evidence limitations visible.</a:t>
            </a:r>
          </a:p>
        </p:txBody>
      </p:sp>
      <p:sp>
        <p:nvSpPr>
          <p:cNvPr id="11" name="statement-4-title">
            <a:extLst xmlns:a="http://schemas.openxmlformats.org/drawingml/2006/main">
              <a:ext uri="{FF2B5EF4-FFF2-40B4-BE49-F238E27FC236}">
                <a16:creationId xmlns:a16="http://schemas.microsoft.com/office/drawing/2014/main" id="{35EA5CCE-EF21-4285-BA4A-9037C3B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Commercial output</a:t>
            </a:r>
          </a:p>
        </p:txBody>
      </p:sp>
      <p:sp>
        <p:nvSpPr>
          <p:cNvPr id="12" name="statement-4-body">
            <a:extLst xmlns:a="http://schemas.openxmlformats.org/drawingml/2006/main">
              <a:ext uri="{FF2B5EF4-FFF2-40B4-BE49-F238E27FC236}">
                <a16:creationId xmlns:a16="http://schemas.microsoft.com/office/drawing/2014/main" id="{724D08A2-3F7E-4026-A881-012FE0EC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Carry validated product direction into concepts, consumer testing and client-ready commercialization reports.</a:t>
            </a:r>
          </a:p>
        </p:txBody>
      </p:sp>
      <p:sp>
        <p:nvSpPr>
          <p:cNvPr id="13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4A36B0CE-C1B9-4C7A-B45E-719F971B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1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F3F7F59-A68E-4994-8EDA-CE7F90A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2402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CFABC4D1-4815-4F6C-8658-7A793C77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1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Built around the questions food developers need to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43A7A-B6E8-4B8B-8427-7ADC550F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8262de7fa4445"/>
          <a:srcRect xmlns:a="http://schemas.openxmlformats.org/drawingml/2006/main" l="4784" t="0" r="4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581650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4" name="developer-question-0">
            <a:extLst xmlns:a="http://schemas.openxmlformats.org/drawingml/2006/main">
              <a:ext uri="{FF2B5EF4-FFF2-40B4-BE49-F238E27FC236}">
                <a16:creationId xmlns:a16="http://schemas.microsoft.com/office/drawing/2014/main" id="{74A3B787-4392-44F4-814B-18A74DC3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Did the reformulation improve the product?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BCD86-1985-4C5A-851E-BDBFF9A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veloper-question-1">
            <a:extLst xmlns:a="http://schemas.openxmlformats.org/drawingml/2006/main">
              <a:ext uri="{FF2B5EF4-FFF2-40B4-BE49-F238E27FC236}">
                <a16:creationId xmlns:a16="http://schemas.microsoft.com/office/drawing/2014/main" id="{F4E3F2B6-1F10-4130-81EE-64CEF63C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Which attributes are driving liking or rejection?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069C-35D6-4633-98C9-16480D0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1947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veloper-question-2">
            <a:extLst xmlns:a="http://schemas.openxmlformats.org/drawingml/2006/main">
              <a:ext uri="{FF2B5EF4-FFF2-40B4-BE49-F238E27FC236}">
                <a16:creationId xmlns:a16="http://schemas.microsoft.com/office/drawing/2014/main" id="{8B270CBC-1C2D-452A-ABEA-20AE9CF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C5F"/>
                </a:solidFill>
                <a:latin typeface="Arial"/>
                <a:ea typeface="Arial"/>
                <a:cs typeface="Arial"/>
              </a:rPr>
              <a:t>Is the evidence strong enough to advance?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6644A-39CA-4C5C-B175-A5BE8363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910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veloper-question-3">
            <a:extLst xmlns:a="http://schemas.openxmlformats.org/drawingml/2006/main">
              <a:ext uri="{FF2B5EF4-FFF2-40B4-BE49-F238E27FC236}">
                <a16:creationId xmlns:a16="http://schemas.microsoft.com/office/drawing/2014/main" id="{37168967-114C-4E09-A6CE-C0446C9E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What should we test or change next?</a:t>
            </a:r>
          </a:p>
        </p:txBody>
      </p:sp>
      <p:sp>
        <p:nvSpPr>
          <p:cNvPr id="11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1096A6A5-6486-46F2-A40C-D46F6DDD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1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B4D2069-0DFE-44BA-B26A-8016C95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4130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87D4A23-7487-4F4D-B149-D90F41E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3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Useful from ingredient development to market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E87A-7D0D-4874-A5FB-15AE43E7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4CAE5-5755-4D55-8B1A-C1C7A58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95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udience-company-title">
            <a:extLst xmlns:a="http://schemas.openxmlformats.org/drawingml/2006/main">
              <a:ext uri="{FF2B5EF4-FFF2-40B4-BE49-F238E27FC236}">
                <a16:creationId xmlns:a16="http://schemas.microsoft.com/office/drawing/2014/main" id="{1061CFFD-A899-4398-A0D4-8FEAB5B2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For food and ingredient companies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5D15F-A172-41ED-A99F-02343D9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ny-item-0">
            <a:extLst xmlns:a="http://schemas.openxmlformats.org/drawingml/2006/main">
              <a:ext uri="{FF2B5EF4-FFF2-40B4-BE49-F238E27FC236}">
                <a16:creationId xmlns:a16="http://schemas.microsoft.com/office/drawing/2014/main" id="{7F95DB1F-31CD-4458-A402-F1631F6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Compare prototypes and reformulations against a clear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50C95-DD54-4F3E-AD22-4FEB0ADC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ny-item-1">
            <a:extLst xmlns:a="http://schemas.openxmlformats.org/drawingml/2006/main">
              <a:ext uri="{FF2B5EF4-FFF2-40B4-BE49-F238E27FC236}">
                <a16:creationId xmlns:a16="http://schemas.microsoft.com/office/drawing/2014/main" id="{E1D7FA31-97C8-446C-A07C-355F736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Show how an ingredient changes the finished product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6D386-4DAB-446D-824B-7775E79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ny-item-2">
            <a:extLst xmlns:a="http://schemas.openxmlformats.org/drawingml/2006/main">
              <a:ext uri="{FF2B5EF4-FFF2-40B4-BE49-F238E27FC236}">
                <a16:creationId xmlns:a16="http://schemas.microsoft.com/office/drawing/2014/main" id="{04199410-615B-4717-9C7D-97C83AA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Coordinate technical, sensory and consumer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3C483-6D70-4D66-85F3-D48E2512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any-item-3">
            <a:extLst xmlns:a="http://schemas.openxmlformats.org/drawingml/2006/main">
              <a:ext uri="{FF2B5EF4-FFF2-40B4-BE49-F238E27FC236}">
                <a16:creationId xmlns:a16="http://schemas.microsoft.com/office/drawing/2014/main" id="{B4E31D62-6F37-47A2-97CE-2B9A6F5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Build a stronger evidence story for internal and customer decisions.</a:t>
            </a:r>
          </a:p>
        </p:txBody>
      </p:sp>
      <p:sp>
        <p:nvSpPr>
          <p:cNvPr id="13" name="audience-adviser-title">
            <a:extLst xmlns:a="http://schemas.openxmlformats.org/drawingml/2006/main">
              <a:ext uri="{FF2B5EF4-FFF2-40B4-BE49-F238E27FC236}">
                <a16:creationId xmlns:a16="http://schemas.microsoft.com/office/drawing/2014/main" id="{40BF666F-5EE8-4536-B805-EB39BF83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For innovation advisers and commercial partners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E0B94-4DD9-42FB-8874-0A74EA0C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dviser-item-0">
            <a:extLst xmlns:a="http://schemas.openxmlformats.org/drawingml/2006/main">
              <a:ext uri="{FF2B5EF4-FFF2-40B4-BE49-F238E27FC236}">
                <a16:creationId xmlns:a16="http://schemas.microsoft.com/office/drawing/2014/main" id="{9C25CECB-DFC2-460A-9C53-9A41E5EF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43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Structure product and market discovery around a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E7823-7942-4186-A898-753D5D9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dviser-item-1">
            <a:extLst xmlns:a="http://schemas.openxmlformats.org/drawingml/2006/main">
              <a:ext uri="{FF2B5EF4-FFF2-40B4-BE49-F238E27FC236}">
                <a16:creationId xmlns:a16="http://schemas.microsoft.com/office/drawing/2014/main" id="{217EBEB4-C45F-4108-B53B-E28DE878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Connect technical evidence to consumer relevance.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EC625-D762-4EC5-AEDF-CFA18D79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viser-item-2">
            <a:extLst xmlns:a="http://schemas.openxmlformats.org/drawingml/2006/main">
              <a:ext uri="{FF2B5EF4-FFF2-40B4-BE49-F238E27FC236}">
                <a16:creationId xmlns:a16="http://schemas.microsoft.com/office/drawing/2014/main" id="{F6D69FE2-B34B-4EA0-975B-2A7D2A60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95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Focus stakeholder conversations on what the evidence supports.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CF50A-5918-48F4-BA47-CABFBF1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dviser-item-3">
            <a:extLst xmlns:a="http://schemas.openxmlformats.org/drawingml/2006/main">
              <a:ext uri="{FF2B5EF4-FFF2-40B4-BE49-F238E27FC236}">
                <a16:creationId xmlns:a16="http://schemas.microsoft.com/office/drawing/2014/main" id="{1A0EC5BF-4436-4E99-83B2-F883BCE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577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Develop practical next steps without losing the original context.</a:t>
            </a:r>
          </a:p>
        </p:txBody>
      </p:sp>
      <p:sp>
        <p:nvSpPr>
          <p:cNvPr id="22" name="audience-outcome">
            <a:extLst xmlns:a="http://schemas.openxmlformats.org/drawingml/2006/main">
              <a:ext uri="{FF2B5EF4-FFF2-40B4-BE49-F238E27FC236}">
                <a16:creationId xmlns:a16="http://schemas.microsoft.com/office/drawing/2014/main" id="{058AD702-57A0-43B8-9887-97F2B03F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6C5F"/>
                </a:solidFill>
                <a:latin typeface="Arial"/>
                <a:ea typeface="Arial"/>
                <a:cs typeface="Arial"/>
              </a:rPr>
              <a:t>One evidence base. Different decisions for each stakeholder.</a:t>
            </a:r>
          </a:p>
        </p:txBody>
      </p:sp>
      <p:sp>
        <p:nvSpPr>
          <p:cNvPr id="23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BA2A7D22-1C35-4BB4-A0E8-638B1EC4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2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6931A3E-C6A8-43BF-81EB-AC522D8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6591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F7FB9015-C891-4C74-9797-D83024C1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Start a focused pilot with one live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85FD-A846-469C-85B4-0F03E78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49FD9-4A2B-477F-BAB1-18329BD2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9848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ilot-label-0">
            <a:extLst xmlns:a="http://schemas.openxmlformats.org/drawingml/2006/main">
              <a:ext uri="{FF2B5EF4-FFF2-40B4-BE49-F238E27FC236}">
                <a16:creationId xmlns:a16="http://schemas.microsoft.com/office/drawing/2014/main" id="{B5B004E3-36C2-4AC4-951A-148576B8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5" name="pilot-node-0">
            <a:extLst xmlns:a="http://schemas.openxmlformats.org/drawingml/2006/main">
              <a:ext uri="{FF2B5EF4-FFF2-40B4-BE49-F238E27FC236}">
                <a16:creationId xmlns:a16="http://schemas.microsoft.com/office/drawing/2014/main" id="{34C39B9D-0671-4247-986F-1EF0EF5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24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ot-detail-0">
            <a:extLst xmlns:a="http://schemas.openxmlformats.org/drawingml/2006/main">
              <a:ext uri="{FF2B5EF4-FFF2-40B4-BE49-F238E27FC236}">
                <a16:creationId xmlns:a16="http://schemas.microsoft.com/office/drawing/2014/main" id="{1C9DEFA3-724C-4EC1-81E7-DC66506D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Choose the product, the decision to make and the evidence already available.</a:t>
            </a:r>
          </a:p>
        </p:txBody>
      </p:sp>
      <p:sp>
        <p:nvSpPr>
          <p:cNvPr id="7" name="pilot-label-1">
            <a:extLst xmlns:a="http://schemas.openxmlformats.org/drawingml/2006/main">
              <a:ext uri="{FF2B5EF4-FFF2-40B4-BE49-F238E27FC236}">
                <a16:creationId xmlns:a16="http://schemas.microsoft.com/office/drawing/2014/main" id="{3DFE8190-6202-4BA4-A90F-07641510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8" name="pilot-node-1">
            <a:extLst xmlns:a="http://schemas.openxmlformats.org/drawingml/2006/main">
              <a:ext uri="{FF2B5EF4-FFF2-40B4-BE49-F238E27FC236}">
                <a16:creationId xmlns:a16="http://schemas.microsoft.com/office/drawing/2014/main" id="{7E0D5500-96DD-400E-8365-0747D0D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24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detail-1">
            <a:extLst xmlns:a="http://schemas.openxmlformats.org/drawingml/2006/main">
              <a:ext uri="{FF2B5EF4-FFF2-40B4-BE49-F238E27FC236}">
                <a16:creationId xmlns:a16="http://schemas.microsoft.com/office/drawing/2014/main" id="{925B486A-EB31-4B75-BE1F-57A2F975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Connect the data, design the study and gather the right sensory or consumer response.</a:t>
            </a:r>
          </a:p>
        </p:txBody>
      </p:sp>
      <p:sp>
        <p:nvSpPr>
          <p:cNvPr id="10" name="pilot-label-2">
            <a:extLst xmlns:a="http://schemas.openxmlformats.org/drawingml/2006/main">
              <a:ext uri="{FF2B5EF4-FFF2-40B4-BE49-F238E27FC236}">
                <a16:creationId xmlns:a16="http://schemas.microsoft.com/office/drawing/2014/main" id="{7148587B-B267-4C7B-84A1-F04818F7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35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353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1" name="pilot-node-2">
            <a:extLst xmlns:a="http://schemas.openxmlformats.org/drawingml/2006/main">
              <a:ext uri="{FF2B5EF4-FFF2-40B4-BE49-F238E27FC236}">
                <a16:creationId xmlns:a16="http://schemas.microsoft.com/office/drawing/2014/main" id="{621BFBC3-29E1-4EC7-9289-A67E1345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lot-detail-2">
            <a:extLst xmlns:a="http://schemas.openxmlformats.org/drawingml/2006/main">
              <a:ext uri="{FF2B5EF4-FFF2-40B4-BE49-F238E27FC236}">
                <a16:creationId xmlns:a16="http://schemas.microsoft.com/office/drawing/2014/main" id="{550DB525-9258-43EE-BB4E-6E278327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Interpret the evidence, record the action and create a report that preserves the rationale.</a:t>
            </a:r>
          </a:p>
        </p:txBody>
      </p:sp>
      <p:sp>
        <p:nvSpPr>
          <p:cNvPr id="13" name="pilot-callout">
            <a:extLst xmlns:a="http://schemas.openxmlformats.org/drawingml/2006/main">
              <a:ext uri="{FF2B5EF4-FFF2-40B4-BE49-F238E27FC236}">
                <a16:creationId xmlns:a16="http://schemas.microsoft.com/office/drawing/2014/main" id="{2AA5D0DA-9F00-4007-950E-1A40608B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ot-callout-text">
            <a:extLst xmlns:a="http://schemas.openxmlformats.org/drawingml/2006/main">
              <a:ext uri="{FF2B5EF4-FFF2-40B4-BE49-F238E27FC236}">
                <a16:creationId xmlns:a16="http://schemas.microsoft.com/office/drawing/2014/main" id="{D432B34A-E7C3-4C79-92E5-D0B4625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6C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26C5F"/>
                </a:solidFill>
                <a:latin typeface="Arial"/>
                <a:ea typeface="Arial"/>
                <a:cs typeface="Arial"/>
              </a:rPr>
              <a:t>Narrow enough to learn quickly. Real enough to matter.</a:t>
            </a:r>
          </a:p>
        </p:txBody>
      </p:sp>
      <p:sp>
        <p:nvSpPr>
          <p:cNvPr id="1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B1F0993F-03EF-42A7-871A-6A30A46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1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D53D848-E07A-44C0-95EC-643538C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5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56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6754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A3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wordmark">
            <a:extLst xmlns:a="http://schemas.openxmlformats.org/drawingml/2006/main">
              <a:ext uri="{FF2B5EF4-FFF2-40B4-BE49-F238E27FC236}">
                <a16:creationId xmlns:a16="http://schemas.microsoft.com/office/drawing/2014/main" id="{7825BB67-1D90-4870-8137-A2CEFD8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DE8E2"/>
                </a:solidFill>
                <a:latin typeface="Arial"/>
                <a:ea typeface="Arial"/>
                <a:cs typeface="Arial"/>
              </a:rPr>
              <a:t>Taste Intelligence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F97BA02-D005-44DD-AF31-25C2378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9239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13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one product question.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Leave with a clearer decision.</a:t>
            </a:r>
          </a:p>
        </p:txBody>
      </p:sp>
      <p:sp>
        <p:nvSpPr>
          <p:cNvPr id="3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7037EF15-1FA1-4B5F-9DA0-9A96ADA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Discuss a focused pilot or private demonstration.</a:t>
            </a:r>
          </a:p>
        </p:txBody>
      </p:sp>
      <p:sp>
        <p:nvSpPr>
          <p:cNvPr id="4" name="closing-url">
            <a:extLst xmlns:a="http://schemas.openxmlformats.org/drawingml/2006/main">
              <a:ext uri="{FF2B5EF4-FFF2-40B4-BE49-F238E27FC236}">
                <a16:creationId xmlns:a16="http://schemas.microsoft.com/office/drawing/2014/main" id="{21B0DF05-4275-40F2-9307-E7E017C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a69171fe75594f9e"/>
              </a:rPr>
              <a:t>tasteintelligence.co.uk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AD83B-432B-4D40-AA32-488ACB46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721E9D7A-0D97-4709-AAEB-9D519845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Taste Intelligence · An NFI sensory and consumer science hub</a:t>
            </a:r>
          </a:p>
        </p:txBody>
      </p:sp>
      <p:sp>
        <p:nvSpPr>
          <p:cNvPr id="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A5EEC51F-06A8-491F-9260-7F05A92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81788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2026-08-19T09:30:59.1460000Z</dcterms:created>
  <dcterms:modified xsi:type="dcterms:W3CDTF">2026-08-19T09:30:59.1460000Z</dcterms:modified>
</coreProperties>
</file>