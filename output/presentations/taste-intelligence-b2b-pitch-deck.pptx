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4dda6118f437b" /><Relationship Type="http://schemas.openxmlformats.org/officeDocument/2006/relationships/extended-properties" Target="/docProps/app.xml" Id="Re8854c2815d241c6" /><Relationship Type="http://schemas.openxmlformats.org/officeDocument/2006/relationships/officeDocument" Target="/ppt/presentation.xml" Id="R8117d5f93921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ef90ec6e847e2"/>
  </p:sldMasterIdLst>
  <p:notesMasterIdLst>
    <p:notesMasterId xmlns:r="http://schemas.openxmlformats.org/officeDocument/2006/relationships" r:id="Rd75aaf17ad984bc0"/>
  </p:notesMasterIdLst>
  <p:sldIdLst>
    <p:sldId xmlns:r="http://schemas.openxmlformats.org/officeDocument/2006/relationships" id="256" r:id="R16d60acbbdd64bef"/>
    <p:sldId xmlns:r="http://schemas.openxmlformats.org/officeDocument/2006/relationships" id="257" r:id="R0393b181363d4351"/>
    <p:sldId xmlns:r="http://schemas.openxmlformats.org/officeDocument/2006/relationships" id="258" r:id="R4f475f92aa6a45ea"/>
    <p:sldId xmlns:r="http://schemas.openxmlformats.org/officeDocument/2006/relationships" id="259" r:id="R0b56743779b34406"/>
    <p:sldId xmlns:r="http://schemas.openxmlformats.org/officeDocument/2006/relationships" id="260" r:id="R9dda1c4053504ff4"/>
    <p:sldId xmlns:r="http://schemas.openxmlformats.org/officeDocument/2006/relationships" id="261" r:id="R04112ef3f8ed4a00"/>
    <p:sldId xmlns:r="http://schemas.openxmlformats.org/officeDocument/2006/relationships" id="262" r:id="Rc6731bf430d144a6"/>
    <p:sldId xmlns:r="http://schemas.openxmlformats.org/officeDocument/2006/relationships" id="263" r:id="Rf3094e2e0dc7400e"/>
    <p:sldId xmlns:r="http://schemas.openxmlformats.org/officeDocument/2006/relationships" id="264" r:id="R76222e2285af417b"/>
    <p:sldId xmlns:r="http://schemas.openxmlformats.org/officeDocument/2006/relationships" id="265" r:id="R64a91f38905d4b82"/>
    <p:sldId xmlns:r="http://schemas.openxmlformats.org/officeDocument/2006/relationships" id="266" r:id="R9e0f5e8508cc4334"/>
    <p:sldId xmlns:r="http://schemas.openxmlformats.org/officeDocument/2006/relationships" id="267" r:id="R69f42b7ada63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edaa8a45f429e" /><Relationship Type="http://schemas.openxmlformats.org/officeDocument/2006/relationships/slideMaster" Target="/ppt/slideMasters/slideMaster1.xml" Id="R261ef90ec6e847e2" /><Relationship Type="http://schemas.openxmlformats.org/officeDocument/2006/relationships/notesMaster" Target="/ppt/notesMasters/notesMaster1.xml" Id="Rd75aaf17ad984bc0" /><Relationship Type="http://schemas.openxmlformats.org/officeDocument/2006/relationships/presProps" Target="/ppt/presProps.xml" Id="R63acf7c1d6d54b2b" /><Relationship Type="http://schemas.openxmlformats.org/officeDocument/2006/relationships/tableStyles" Target="/ppt/tableStyles.xml" Id="Ra0b24cbf81fc4ee5" /><Relationship Type="http://schemas.openxmlformats.org/officeDocument/2006/relationships/slide" Target="/ppt/slides/slide1.xml" Id="R16d60acbbdd64bef" /><Relationship Type="http://schemas.openxmlformats.org/officeDocument/2006/relationships/slide" Target="/ppt/slides/slide2.xml" Id="R0393b181363d4351" /><Relationship Type="http://schemas.openxmlformats.org/officeDocument/2006/relationships/slide" Target="/ppt/slides/slide3.xml" Id="R4f475f92aa6a45ea" /><Relationship Type="http://schemas.openxmlformats.org/officeDocument/2006/relationships/slide" Target="/ppt/slides/slide4.xml" Id="R0b56743779b34406" /><Relationship Type="http://schemas.openxmlformats.org/officeDocument/2006/relationships/slide" Target="/ppt/slides/slide5.xml" Id="R9dda1c4053504ff4" /><Relationship Type="http://schemas.openxmlformats.org/officeDocument/2006/relationships/slide" Target="/ppt/slides/slide6.xml" Id="R04112ef3f8ed4a00" /><Relationship Type="http://schemas.openxmlformats.org/officeDocument/2006/relationships/slide" Target="/ppt/slides/slide7.xml" Id="Rc6731bf430d144a6" /><Relationship Type="http://schemas.openxmlformats.org/officeDocument/2006/relationships/slide" Target="/ppt/slides/slide8.xml" Id="Rf3094e2e0dc7400e" /><Relationship Type="http://schemas.openxmlformats.org/officeDocument/2006/relationships/slide" Target="/ppt/slides/slide9.xml" Id="R76222e2285af417b" /><Relationship Type="http://schemas.openxmlformats.org/officeDocument/2006/relationships/slide" Target="/ppt/slides/slide10.xml" Id="R64a91f38905d4b82" /><Relationship Type="http://schemas.openxmlformats.org/officeDocument/2006/relationships/slide" Target="/ppt/slides/slide11.xml" Id="R9e0f5e8508cc4334" /><Relationship Type="http://schemas.openxmlformats.org/officeDocument/2006/relationships/slide" Target="/ppt/slides/slide12.xml" Id="R69f42b7ada63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2af2ccc084f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aef72013d49b5" /><Relationship Type="http://schemas.openxmlformats.org/officeDocument/2006/relationships/notesMaster" Target="/ppt/notesMasters/notesMaster1.xml" Id="Rc6600ea8dcec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e6434dfaca4002" /><Relationship Type="http://schemas.openxmlformats.org/officeDocument/2006/relationships/notesMaster" Target="/ppt/notesMasters/notesMaster1.xml" Id="Re7b8c8474139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0f2b1c5aea4dc4" /><Relationship Type="http://schemas.openxmlformats.org/officeDocument/2006/relationships/notesMaster" Target="/ppt/notesMasters/notesMaster1.xml" Id="R7e42ef12f096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3441821fa432b" /><Relationship Type="http://schemas.openxmlformats.org/officeDocument/2006/relationships/notesMaster" Target="/ppt/notesMasters/notesMaster1.xml" Id="R442bbacabf8c43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a51c7a7f6249d1" /><Relationship Type="http://schemas.openxmlformats.org/officeDocument/2006/relationships/notesMaster" Target="/ppt/notesMasters/notesMaster1.xml" Id="R9b0a4183233749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ba4a9e7b59462e" /><Relationship Type="http://schemas.openxmlformats.org/officeDocument/2006/relationships/notesMaster" Target="/ppt/notesMasters/notesMaster1.xml" Id="Rc97f930a356646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243b64498f4c1a" /><Relationship Type="http://schemas.openxmlformats.org/officeDocument/2006/relationships/notesMaster" Target="/ppt/notesMasters/notesMaster1.xml" Id="Rd58a4c5c7aa542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daa868646a4f8d" /><Relationship Type="http://schemas.openxmlformats.org/officeDocument/2006/relationships/notesMaster" Target="/ppt/notesMasters/notesMaster1.xml" Id="R75e821d9635d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4dc48ca924f04" /><Relationship Type="http://schemas.openxmlformats.org/officeDocument/2006/relationships/notesMaster" Target="/ppt/notesMasters/notesMaster1.xml" Id="R523a350b55bb4d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60f721bf5f40f6" /><Relationship Type="http://schemas.openxmlformats.org/officeDocument/2006/relationships/notesMaster" Target="/ppt/notesMasters/notesMaster1.xml" Id="R76a2a658c01143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e4835da66c4695" /><Relationship Type="http://schemas.openxmlformats.org/officeDocument/2006/relationships/notesMaster" Target="/ppt/notesMasters/notesMaster1.xml" Id="R1a8f2abacada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73f15733bd43b7" /><Relationship Type="http://schemas.openxmlformats.org/officeDocument/2006/relationships/notesMaster" Target="/ppt/notesMasters/notesMaster1.xml" Id="R24c6b65906ee49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outcome: better food-development decisions backed by connected evidence. Avoid beginning with a feature tour.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positioning and implemented Sensory Platform workflow.</a:t>
            </a:r>
          </a:p>
          <a:p xmlns:a="http://schemas.openxmlformats.org/drawingml/2006/main">
            <a:r>
              <a:t>- Hero image generated for this deck on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examples the audience recognizes: lab files, survey tools, analysis spreadsheets and separate presentation decks. This is a workflow diagnosis, not a claim that every customer has identical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workflow analysis; no external market statistic is asserted.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genuine product proof. Explain that the Overview is the operating layer: it shows the active project, its stage, evidence status and next recommended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critical distinction is continuity: later outputs inherit the approved evidence and decision record instead of starting from a blank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Implemented Sensory Platform workflow and internal product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ingredient and food-development companies, emphasize sample lineage, formulation context, comparison and panelist eligibility. Avoid implying that software replaces the formal safety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is not a black box. The decision view is intended to show the threshold, evidence strength and what remains incomplete before a reviewer confirms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and report stages are gated by the confirmed decision. This prevents an attractive output from quietly outrunning the underlying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screenshots captured from the implemented Sensory Platform,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illustrative, not a claim about Cain Food Industries or any completed study. Tailor the product format and decision question during the first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workflow derived from the platform capabilities and the user-supplied bakery-ingredient audience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Alessandro, lead with ingredient performance, finished-product evidence and customer conversations. For Mike, lead with structured discovery and actionable innovation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Audience roles supplied by the user; value framing derived from implemented platform capabilities.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differentiation slide. Do not position the product as replacing a sensory scientist or consultant. Position it as the operating and governance layer that makes expert work more consistent and traceable.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architecture, safety controls and workflow gates.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prospect to bring one current problem for a private working session. Do not promise a fixed timeline until the samples, study method, panel and evidence requirements are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engagement model; timing and commercial terms intentionally left to scoping.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specific ask: select one representative product-development question for a private demonstration or scoped pilot. The singular domain should be the primary public address; the plural domain can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Domain ownership and audience context supplied by the user.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c2a4cb3e947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68ef8ad5040c2" /><Relationship Type="http://schemas.openxmlformats.org/officeDocument/2006/relationships/slideLayout" Target="/ppt/slideLayouts/slideLayout1.xml" Id="R963a8c37551246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a8c37551246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b0aa73e84284" /><Relationship Type="http://schemas.openxmlformats.org/officeDocument/2006/relationships/image" Target="/ppt/media/image.png" Id="Rabddbe33dd574ace" /><Relationship Type="http://schemas.openxmlformats.org/officeDocument/2006/relationships/hyperlink" Target="https://tasteintelligence.co.uk" TargetMode="External" Id="Rd32461d380e748cf" /><Relationship Type="http://schemas.openxmlformats.org/officeDocument/2006/relationships/notesSlide" Target="/ppt/notesSlides/notesSlide1.xml" Id="R75639c595898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8cf4fd7df45d7" /><Relationship Type="http://schemas.openxmlformats.org/officeDocument/2006/relationships/notesSlide" Target="/ppt/notesSlides/notesSlide2.xml" Id="R8a0ddfcd2a43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b81acc27d4233" /><Relationship Type="http://schemas.openxmlformats.org/officeDocument/2006/relationships/image" Target="/ppt/media/image2.png" Id="Re7826d2e39b645e3" /><Relationship Type="http://schemas.openxmlformats.org/officeDocument/2006/relationships/notesSlide" Target="/ppt/notesSlides/notesSlide3.xml" Id="Rd60954d6cd8c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c787dd7e4b85" /><Relationship Type="http://schemas.openxmlformats.org/officeDocument/2006/relationships/notesSlide" Target="/ppt/notesSlides/notesSlide4.xml" Id="R06e32ea8047f49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d65457b6c430c" /><Relationship Type="http://schemas.openxmlformats.org/officeDocument/2006/relationships/image" Target="/ppt/media/image3.png" Id="Rc774de8922ba4696" /><Relationship Type="http://schemas.openxmlformats.org/officeDocument/2006/relationships/image" Target="/ppt/media/image4.png" Id="Rbf564de60b1f4915" /><Relationship Type="http://schemas.openxmlformats.org/officeDocument/2006/relationships/notesSlide" Target="/ppt/notesSlides/notesSlide5.xml" Id="R375aa79cc27240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5a7ebde6a4308" /><Relationship Type="http://schemas.openxmlformats.org/officeDocument/2006/relationships/image" Target="/ppt/media/image5.png" Id="R883d79e5cfc84e04" /><Relationship Type="http://schemas.openxmlformats.org/officeDocument/2006/relationships/image" Target="/ppt/media/image6.png" Id="R62603beff1914ee0" /><Relationship Type="http://schemas.openxmlformats.org/officeDocument/2006/relationships/notesSlide" Target="/ppt/notesSlides/notesSlide6.xml" Id="R7de3376cdd014a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baa4633a2485d" /><Relationship Type="http://schemas.openxmlformats.org/officeDocument/2006/relationships/image" Target="/ppt/media/image7.png" Id="Rc7873812e0b144e8" /><Relationship Type="http://schemas.openxmlformats.org/officeDocument/2006/relationships/image" Target="/ppt/media/image8.png" Id="R052fa6378fb141e5" /><Relationship Type="http://schemas.openxmlformats.org/officeDocument/2006/relationships/notesSlide" Target="/ppt/notesSlides/notesSlide7.xml" Id="R190ff9717336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21f84a0c4e58" /><Relationship Type="http://schemas.openxmlformats.org/officeDocument/2006/relationships/notesSlide" Target="/ppt/notesSlides/notesSlide8.xml" Id="R33c8b00845964a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57b20b13f49b1" /><Relationship Type="http://schemas.openxmlformats.org/officeDocument/2006/relationships/notesSlide" Target="/ppt/notesSlides/notesSlide9.xml" Id="R46ce1dcd047b47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493b47b3349c4" /><Relationship Type="http://schemas.openxmlformats.org/officeDocument/2006/relationships/notesSlide" Target="/ppt/notesSlides/notesSlide10.xml" Id="Rc99567c88beb44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80a22c4de45dd" /><Relationship Type="http://schemas.openxmlformats.org/officeDocument/2006/relationships/notesSlide" Target="/ppt/notesSlides/notesSlide11.xml" Id="R51701ec587d249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de4a9ac045eb" /><Relationship Type="http://schemas.openxmlformats.org/officeDocument/2006/relationships/hyperlink" Target="https://tasteintelligence.co.uk" TargetMode="External" Id="R7dae02cd98ba46b0" /><Relationship Type="http://schemas.openxmlformats.org/officeDocument/2006/relationships/notesSlide" Target="/ppt/notesSlides/notesSlide12.xml" Id="Re59baf3fefc947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dbe33dd574ace"/>
          <a:srcRect xmlns:a="http://schemas.openxmlformats.org/drawingml/2006/main" l="1689" t="0" r="1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381000"/>
            <a:ext cx="5448300" cy="5638800"/>
          </a:xfrm>
          <a:prstGeom xmlns:a="http://schemas.openxmlformats.org/drawingml/2006/main" prst="roundRect">
            <a:avLst>
              <a:gd name="adj" fmla="val 139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02AED-C79B-4334-B901-7DF120E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Taste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7525-CD03-48D0-903A-CCDC36B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408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From product evidence</a:t>
            </a:r>
          </a:p>
          <a:p xmlns:a="http://schemas.openxmlformats.org/drawingml/2006/main">
            <a:pPr algn="l">
              <a:defRPr sz="48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to a defensible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8D24C-A5FE-4A12-9AB8-0FE563E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 connected sensory and consumer science workspace for food development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2929F-1BC7-4565-8FAD-401B8F21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B7D7F-4093-48A5-AEBD-5432B31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12B"/>
                </a:solidFill>
                <a:latin typeface="Arial"/>
                <a:ea typeface="Arial"/>
                <a:cs typeface="Arial"/>
              </a:rPr>
              <a:t>Built by New Food Innovation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56A4-C1C7-450A-9372-ED31BF8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  <a:hlinkClick xmlns:r="http://schemas.openxmlformats.org/officeDocument/2006/relationships" r:id="Rd32461d380e748cf"/>
              </a:rPr>
              <a:t>tasteintelligence.co.uk</a:t>
            </a:r>
          </a:p>
        </p:txBody>
      </p:sp>
    </p:spTree>
    <p:extLst>
      <p:ext uri="{BB962C8B-B14F-4D97-AF65-F5344CB8AC3E}">
        <p14:creationId xmlns:p14="http://schemas.microsoft.com/office/powerpoint/2010/main" val="2010065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9CD37-F3DA-4132-906A-5CF1543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511F5-8501-4965-B3C0-FF976B6C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1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Good evidence loses value when the workflow is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0221C-0C78-418C-8ACC-DECBCA0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DB34-542B-40E4-8601-BED007A1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product decision may depend on four different evidence streams—yet they are often reviewed in separate files, systems and meetings.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54FD9-F12B-4909-8326-BFB28BD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The consequence is not simply administration. Teams can lose sample lineage, repeat work, overstate weak findings, or struggle to explain why a product advanced.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331C-268A-42B7-B802-A78475E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0A45A-F082-495F-95C3-A2469C2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Instrumental, composition and formulation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1E30D-397A-45CC-8EA2-9E564A2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00511-F5B9-4FA7-B21C-9FBC706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Sensory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AEE6E-33E9-43D6-9413-2699639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Attributes, intensity, liking and open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DB793-3412-46BD-AEC6-3B99555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400D0-A040-408E-87DE-FB47CE9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DA1AE-352A-4882-AF5A-632BB3E4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Concept, usage, price and purchase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6595D-165B-400D-963B-728FF253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FEA8C-DE86-4305-9C7E-1EEC103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77866-B068-491B-BF03-D00C6313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719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GO, TWEAK or STOP—and the evidence behind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D5AFD-F83F-4B87-8FCD-CF19142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EAAA3-CC8C-4509-AF2E-5F382942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Taste Intelligence keeps the evidence, the decision and the next action connected.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C9B8E-A3FF-47B7-98BE-C1A9345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8764D-1F1D-4287-8BE2-C138BA9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415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42D4A-0A94-4B39-9E39-358DDD9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BA977-7672-4B0C-B652-8B8C56A7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44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One workspace shows where the project is—and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6849A-68D5-498C-9CEA-1857DF24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26d2e39b645e3"/>
          <a:srcRect xmlns:a="http://schemas.openxmlformats.org/drawingml/2006/main" l="521" t="0" r="5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34A0E-3133-4DAC-BB09-92D9FD28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B3253-A337-4B0C-9DE6-CFB7A75A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65" y="1724025"/>
            <a:ext cx="1628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9A09-A3E6-4F37-B6E5-658B05B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REPRESENTATIVE INTERFACE · ILLUSTRATIVE PROJECT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4808A-7F2C-4958-95AE-6604354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Project continuity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19991-74DC-44EC-A165-2CE2585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93A73-54B5-4E65-8309-8A2548B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 visible path from Data to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BFDE7-F08C-4F09-96A7-E6C775F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BF1C-1864-4ECD-A696-F1513BC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Current status and evidence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CED04-70A5-4F0D-8B08-CBE9CBA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2F948-C803-4202-8CFF-E7A9A46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 specific next action for the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53921-FABB-457B-873C-98AB6EF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2912B-DCB4-499D-BC48-C8132DA9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Project context retained across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EF17E-EF32-40D5-9786-9BABACD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The interface is designed to support the working process—not create another disconnected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FC2D8-D80C-420A-BC4B-CBA2FBE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9C750-8113-40F0-86E3-24397B8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6285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7D6B3-A4C0-4F1B-AF2B-30A1AF3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FA3E5-1355-4477-898E-EB198B0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8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connected journey from sample to commercial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9FA7B-0BE9-4191-AB43-ABE39F08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4C190-D1B7-4974-93FF-0900B65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6821-58AD-4591-AAE0-BD3A3303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3D83A-9253-430F-907A-5A50328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D2C76-5894-41F4-9B5B-CF5A65D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Sample, formulation and instrumental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CC442-EDDB-427D-B884-980F734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28D17-005C-457C-9FA1-5BDE1C49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59C9F-7521-4C8D-B69B-FD2221DE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Sensory, discrimination and concept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291DC-7813-440C-8728-1FDE68D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Insights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89E14-E7C1-4E5C-9C5E-ECA64E3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3BACA-E282-423B-9863-DB5470A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Patterns, comparisons and evidence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8F366-1C3D-422A-A432-06274BF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CA2B8-7C80-45C8-91C3-2571A320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5F8C7-2B9C-45FE-B00F-F1E5EE1E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GO, TWEAK or STOP with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51055-37AA-405B-A124-DCF6362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B18E0-89BF-4080-AA06-EFDE214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273A2-E8E5-4A36-A509-24C8A48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Validated direction becomes a stimulus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463BB-F891-4215-826B-EA65DC3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D8A9B-3A8A-4F3E-9404-31E771C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CB708-AA7B-45E9-9BE2-48A2E64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43300"/>
            <a:ext cx="156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Versioned, reviewable commercial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4014D-5DD8-46F1-9ED2-EAB49336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Human review remains the gate at every consequential step.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40566-E3C0-4FC8-BB96-DFBAFF7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The platform makes the evidence chain visible; it does not substitute software output for scientific judgment.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8A51E-9604-42C2-9D2F-B7A14C0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CED67-38FE-48BD-9F1C-C266742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0895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D7EDB-FEAC-49AF-8BDA-9159D8E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BUILD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3C0D7-E424-4E5A-946B-FB1E922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3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Keep the sample identity intact from measurement to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820B-3EDF-49D5-A742-0A0B37B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4de8922ba4696"/>
          <a:srcRect xmlns:a="http://schemas.openxmlformats.org/drawingml/2006/main" l="4173" t="0" r="4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00DE6-EEB8-4235-A78F-0D80C83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64de60b1f4915"/>
          <a:srcRect xmlns:a="http://schemas.openxmlformats.org/drawingml/2006/main" l="4173" t="0" r="4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B477D-B3E9-4767-8902-AD486BDD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38500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3B291-4A97-4081-BC23-66355F8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F6DA-9271-44AA-A3A1-594B96A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D5E07-15E6-4BF9-AE03-F9B92D8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1 · Organise evidence by project and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E034F-0431-4E74-95E4-923BB3E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Import technical data, retain version context and compare the correct prototypes.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B166E-5AC6-492F-B7A3-1A408DBD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625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2 · Configure the right study and eligible panel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1B0EA-99E3-4C27-B816-CFC01DC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Use sensory, triangle or concept studies with formulation and allergen-safety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1D22F-EE85-4A17-B59A-4ED1A160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56C91-0BA3-4AE6-B617-BD3210DE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4B74C-5FEE-4BF9-9E78-70E67CC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97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6D6DC-6E23-4B1B-A7D6-3FDDBFE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INTERPRET AND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9D0CF-6B55-4F5E-94FA-D651899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52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recommendation that shows the evidence—and 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57C9-1679-48E4-A858-BCC69BE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d79e5cfc84e04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4FA26-F583-4ED0-B198-E836181F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03beff1914ee0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71965-FDF4-4BDD-97FC-813EB60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348F3-6457-4860-9CC8-76A9A73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FAC2-0AEC-4949-9646-B4B109F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D2C20-22DC-4AFC-A113-14E3817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Understand 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89B13-88DC-4270-949E-F81DDD1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Compare prototypes, inspect dimensions and keep uncertainty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763FB-35B8-4529-8BB2-9AED295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Make the action explicit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BCC67-7CFD-4DE2-B286-6513156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911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Record GO, TWEAK or STOP with method, confidence, evidence status and rationale.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B5EE5-A708-40D9-AF94-0E9368C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A7C9-EBB4-4A69-A9DF-92D7F20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E6037-67BF-46FB-8093-910830E9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9321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DBDE3-AD1B-411F-B5D3-48A4AE3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ACTIVATE 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4E674-1965-4AB8-AC28-1CEE85F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Move into concepts and reports without losing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E9355-B78D-4B91-AE7D-6C6575E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73812e0b144e8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4C6F-91B0-46E8-85C7-E536F6AA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fa6378fb141e5"/>
          <a:srcRect xmlns:a="http://schemas.openxmlformats.org/drawingml/2006/main" l="4706" t="0" r="4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83377-28EE-4832-8733-398E8AA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76850" cy="32766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FF777-043D-4D90-8092-A207B5D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06D9-C116-41FA-BA5B-E72C633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35" y="1743075"/>
            <a:ext cx="118729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7893-390E-4D48-9F0C-7251B17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Concept work starts from an approved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5643E-5082-4FDD-A4B5-E1B69469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Brief, stimulus, survey and panel remain linked to the confirmed product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D9E43-8543-496B-9D5A-2A01CE0C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Reports remain reviewable before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7F2DB-01ED-4EEC-A96F-FCCFC946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Draft history, checks and PDF preview support a controlled hand-off to clients or decision-makers.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74BED-79BD-4D10-BFE7-F557DAD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6756D"/>
                </a:solidFill>
                <a:latin typeface="Arial"/>
                <a:ea typeface="Arial"/>
                <a:cs typeface="Arial"/>
              </a:rPr>
              <a:t>REPRESENTATIVE INTERFACE · ILLUSTRATIVE PROJECT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D26B3-43DB-4CA1-BE29-2A84F91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3D276-B1EB-4B6D-A694-70D8894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7057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9D5BF-B0EB-4772-B5C4-AD36589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ILLUSTRATIVE BAKERY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2498E-C536-455C-85AD-9A29F13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1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Turn an ingredient change into a customer-ready evidence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60E3F-0897-4095-B859-945B48E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7149-D21C-43FC-8426-8B529E6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Example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6905-C583-4C95-9E66-DC7218E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Does the new ingredient system improve finished-product performance without compromising consumer acceptance?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76CD-9F63-4795-9CCB-37885ED3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 practical study could connect formulation and instrumental evidence to blinded sensory comparison, liking, diagnostic attributes and an explicit advancement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73C9F-3D3E-4984-A86F-B13F89C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10EE0-0437-4D07-89EB-AA20284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9B5A1-478C-4E27-AAB5-7B5A636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Control vs new ingredient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1834-3B6E-4099-A593-C40BFC4C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E4F10-91DC-4361-B80B-C93BFB80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C8C34-82AF-4BA7-8E02-73F3EB7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255E2-81EE-4320-9B77-8162B59E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Identify drivers, penalties and evidence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1EE56-F2A0-4CFB-85FA-9984432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FBFC0-B431-47EB-9B71-BCFACE3A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2386F-9DF7-463E-A1CB-2511391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B95CB-ACD9-429E-8801-56FCE54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Advance, refine or stop with rationale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58558-F0EF-4397-96E6-408195C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0A8D-0D18-478A-AD7E-D654EC1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32D71-2E95-42F0-95A4-0BCA362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Communicate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AD4C3-C4E3-47DC-911F-A6ABF44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Create a traceable customer-facing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5C44C-5A26-40BF-9AE6-1F1B075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90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C313F-273B-4315-AE96-5D0143B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Outcome: a clearer next experiment and a more defensible technical-commercial conversation.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97B28-541A-4C8F-B1CF-884E7B4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B39D3-C5DA-4414-B803-F84FE0C7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3182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06D7E-029D-4080-9A5A-6F6BE8A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3319-51B0-4800-9853-ADD090F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One evidence base. Different value for each 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352A-DE0F-45EE-9A54-A401CD5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EFB27-76AB-47E5-8281-03CDA0D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FOOD &amp; INGREDIENT 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87D1-1609-4FBD-A4E3-F382F65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Strengthen the decision behind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AFE3B-08FC-45A9-9F51-70172C9F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76203-5AD6-4CD7-BD89-50B101A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Compare prototypes and reformulations against a defined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F59B-5EC7-4152-B1E9-257BFFC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FEDA9-8566-4950-91BC-D949404A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Connect ingredient performance to the finished product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38DC1-6278-43BD-8D3F-7ED1920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4F092-2C7A-4311-B03A-B17C306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Give internal teams and customers a traceable evidence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C90C4-C105-4A5C-96B0-A41CBD5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8EBC5-AC92-4742-8F2E-B2E1D848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Focus the next experiment on the most important 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BB134-97A5-4B2A-9DC4-1DBC6C5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CB9A6-7A94-4555-8DF9-97CED6C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INNOVATION ADVISER OR COMMERCIAL PARTNER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7E071-05DF-478D-A351-4B878CF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Make the recommendation easier to act 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B0CA7-5CF4-4FB0-A126-9411B70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115CA-E262-41E2-91DB-926E555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Structure discovery around the decision that must be made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C9896-EF2F-4ADD-82A1-B1CDE99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03FCE-27FC-4486-B99E-FFB8938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Connect technical performance with sensory and consumer relevance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9A9DA-B1FA-4C1D-BE5E-954C79E9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B5389-6943-4041-8D36-B95C533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Keep stakeholder conversations anchored to the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AAAAE-967D-4778-A634-A8331716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86D8F-C79C-4CDB-81BE-0253A65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Translate findings into practical product and market next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BFCB6-1339-47F0-823F-58C5FA0F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60BA4-49E8-4783-8034-A1EB5E9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7996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BD698-BC0F-4104-B68F-F433810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WHY TASTE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6DB81-D887-4099-A581-1AF747D6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More than a survey tool, dashboard or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F7892-AEDF-4D07-A334-FED1227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2D142-8515-4CDE-8A40-56C9F6B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Not just data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1AEF-3652-4695-AE59-F283D18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2402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Project, sample and formulation lineage stays attached to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AD475-2C26-42D2-8D05-ECE669D9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02ABD-E201-46E9-A9CE-6A39D3DD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Not just a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A1EDC-5F65-4F8C-9A2B-B96C580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Thresholds, confidence, limitations and the human confirmation are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7534-AB06-43C1-B3E3-0B3404C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48025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78AB-C078-498F-A2B4-D0F7E07E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Not just AI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41D85-2AA3-4FD8-B62D-8C9C34C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575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Draft assistance remains grounded in approved evidence and controlled by review gates.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7346-72D8-4E0B-B917-CAA71E8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06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4455F-66EF-4303-9EC5-BC9C3634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Not just a final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5994C-7A42-499D-9B99-40111DE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2435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The report inherits the decision history, version context and source trail.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F201F-C38F-40F9-8A1F-EC01B4A0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409950" cy="4095750"/>
          </a:xfrm>
          <a:prstGeom xmlns:a="http://schemas.openxmlformats.org/drawingml/2006/main" prst="roundRect">
            <a:avLst>
              <a:gd name="adj" fmla="val 2793"/>
            </a:avLst>
          </a:prstGeom>
          <a:solidFill xmlns:a="http://schemas.openxmlformats.org/drawingml/2006/main">
            <a:srgbClr val="253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03BFA-86DA-489E-B37E-C76294F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Designed for governed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F2BFD-DE86-400B-81E4-ACD36D0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70CF2-9BD0-4B43-850D-F20B9850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Tenant and project separation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3FBB-70DE-46DF-8165-EAE216D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B6179-BF7B-4D19-8465-C8ECCA7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Sample and formulation 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7E5E4-971F-4134-AF37-18AD600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4BB2E-D389-4758-A95A-FFB3DCA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33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Panelist allergen eligibility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1B28D-C0F7-4450-8A5C-B662800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27919-C413-4E5E-868B-50D28D1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Decision and report audit trail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73365-7377-4D64-9AFC-55A7514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CA03F-98B5-4659-9A35-A0D7656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434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Review before concept or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319C4-2439-438E-B40E-D3BA4D1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2E391-DCDE-448F-914D-7961725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1592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8ED09-CB9A-4FD6-82BA-B51EB6D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A PRACTICAL FIRST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787CA-4D51-4081-AA4B-4BBDCB6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15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Start with one live product question—not a platform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CD9D3-4C84-44A3-8D3B-95C28C5F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CC9E-2E27-4C8D-8175-35229677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YOU BRING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38AF2-EC79-4789-87CE-D5EB339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current product or ingredient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10212-49FB-4DCD-8417-379D25B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C59BF-247F-4EB2-A8E8-00E46CC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Samples or formulations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4A18C-A4CC-4FC1-9CEE-D97AE42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B0F5-8737-4E8E-8D14-CF9ABBDD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Existing technical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FA577-CE35-49F8-A7E6-7981B9A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3CC4F-D0F2-4244-92B9-831DD4C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The decision and 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0FD11-65E3-4C50-ADD8-693FBB4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96DF7-4E0D-4048-B734-63BF1FB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NFI CONFIGURES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B6AA5-DE70-4191-A35B-A3C3CEF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focused evidence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DF9AB-0520-41CF-8C82-331B3F5F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C316C-8DDA-4D24-9595-9BEE51BF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Project and sample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5370B-86BA-4C05-82BD-F608CD3D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89898-1438-4F8F-9AD8-5C410A8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Appropriate study and panel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AE96-E29B-4FC7-AD9D-F3404171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45AF2-1F3E-4252-A030-EE35768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Review points and decision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9E27-9B0F-402A-96A6-332E28A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BC592-1A93-4427-9736-C939444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TOGETHER YOU LEAVE WITH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8876F-5897-4827-AAEA-DBCD63E4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12B"/>
                </a:solidFill>
                <a:latin typeface="Arial"/>
                <a:ea typeface="Arial"/>
                <a:cs typeface="Arial"/>
              </a:rPr>
              <a:t>A usable decision 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8ED14-F82C-48BE-8848-9A12DEAC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1C003-EC84-4049-A8EC-5C2DD120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6BE89-FD87-4406-8AE2-986665C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D2AA6-6A48-4EE8-913E-9832880A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Prioritised 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0DBB7-9A9A-4AE6-8ECD-A5E99EE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2244B-CB8A-497E-8B57-8641A10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Client-ready, reviewable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62424-41B0-48F7-BCB2-A6D17F2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8D62F-4BE1-4B1B-BDBB-A7148682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29275"/>
            <a:ext cx="811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69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695B"/>
                </a:solidFill>
                <a:latin typeface="Arial"/>
                <a:ea typeface="Arial"/>
                <a:cs typeface="Arial"/>
              </a:rPr>
              <a:t>The pilot scope, study design, timing and commercial terms are agreed around the real decision.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DA979-BE05-4C8C-9F75-76E41AF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07170-8BEC-4893-BAB6-9E17225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5012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5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CB66-A25E-490A-A27D-EDC9171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DE8E2"/>
                </a:solidFill>
                <a:latin typeface="Arial"/>
                <a:ea typeface="Arial"/>
                <a:cs typeface="Arial"/>
              </a:rPr>
              <a:t>Taste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A0F52-40C9-437E-8255-F8EB6EA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one product question.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evidence around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A9F7-1B64-4EBB-98BB-1E18A8A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Next step: a private demonstration using a representative development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1E026-DA73-4C96-8BE2-BE957D7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7dae02cd98ba46b0"/>
              </a:rPr>
              <a:t>tasteintelligence.co.uk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81A41-AED0-4BC7-9B6F-79A2E522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1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tasteintelligences.com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3E9D3-AF0E-4AB8-A979-EAA3C7E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B461B-D85B-45DD-9C03-410802D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Taste Intelligence · NFI sensory and consumer science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23743-854E-40B7-AC90-FCA65F40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DE8E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DE8E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6148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2026-08-19T09:42:09.3360000Z</dcterms:created>
  <dcterms:modified xsi:type="dcterms:W3CDTF">2026-08-19T09:42:09.3360000Z</dcterms:modified>
</coreProperties>
</file>